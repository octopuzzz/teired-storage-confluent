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65760"/>
            <a:ext cx="164592" cy="164592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188720"/>
            <a:ext cx="164592" cy="164592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2011680"/>
            <a:ext cx="164592" cy="164592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2834640"/>
            <a:ext cx="164592" cy="164592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3657600"/>
            <a:ext cx="164592" cy="164592"/>
          </a:xfrm>
          <a:prstGeom prst="ellipse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36408" y="365760"/>
            <a:ext cx="36576" cy="374904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548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B4D8"/>
                </a:solidFill>
              </a:rPr>
              <a:t>CONFLUENT ON-PREMISE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005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Tiered Storage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2004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E8F5"/>
                </a:solidFill>
              </a:rPr>
              <a:t>Arsitektur, Flow, &amp; Cara Kerja Lengkap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2743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A4C0"/>
                </a:solidFill>
              </a:rPr>
              <a:t>Based on Confluent Internal Architecture Course  •  </a:t>
            </a:r>
            <a:pPr indent="0" marL="0">
              <a:buNone/>
            </a:pPr>
            <a:r>
              <a:rPr lang="en-US" sz="1100" b="1" dirty="0">
                <a:solidFill>
                  <a:srgbClr val="D0E8F5"/>
                </a:solidFill>
              </a:rPr>
              <a:t>Jun Rao, Co-Founder Confluent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A4C0"/>
                </a:solidFill>
              </a:rPr>
              <a:t>KIP-405  |  Confluent Platform  |  On-Premise Ready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76F"/>
                </a:solidFill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Masalah Kafka Storage Tradisional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2103120" cy="2011680"/>
          </a:xfrm>
          <a:prstGeom prst="rect">
            <a:avLst/>
          </a:prstGeom>
          <a:solidFill>
            <a:srgbClr val="162C4A"/>
          </a:solidFill>
          <a:ln w="12700">
            <a:solidFill>
              <a:srgbClr val="1D3D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932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Broker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325880"/>
            <a:ext cx="1828800" cy="548640"/>
          </a:xfrm>
          <a:prstGeom prst="rect">
            <a:avLst/>
          </a:prstGeom>
          <a:solidFill>
            <a:srgbClr val="0077A8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Local Storage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(Fast &amp; Expensive)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1965960"/>
            <a:ext cx="1828800" cy="502920"/>
          </a:xfrm>
          <a:prstGeom prst="rect">
            <a:avLst/>
          </a:prstGeom>
          <a:solidFill>
            <a:srgbClr val="0077A8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703"/>
                </a:solidFill>
              </a:rPr>
              <a:t>Historical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B703"/>
                </a:solidFill>
              </a:rPr>
              <a:t>(Still in Local!)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914400"/>
            <a:ext cx="2103120" cy="2011680"/>
          </a:xfrm>
          <a:prstGeom prst="rect">
            <a:avLst/>
          </a:prstGeom>
          <a:solidFill>
            <a:srgbClr val="162C4A"/>
          </a:solidFill>
          <a:ln w="12700">
            <a:solidFill>
              <a:srgbClr val="1D3D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34640" y="932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Broker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71800" y="1325880"/>
            <a:ext cx="1828800" cy="548640"/>
          </a:xfrm>
          <a:prstGeom prst="rect">
            <a:avLst/>
          </a:prstGeom>
          <a:solidFill>
            <a:srgbClr val="0077A8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Local Storage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(Fast &amp; Expensive)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71800" y="1965960"/>
            <a:ext cx="1828800" cy="502920"/>
          </a:xfrm>
          <a:prstGeom prst="rect">
            <a:avLst/>
          </a:prstGeom>
          <a:solidFill>
            <a:srgbClr val="0077A8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97180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703"/>
                </a:solidFill>
              </a:rPr>
              <a:t>Historical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B703"/>
                </a:solidFill>
              </a:rPr>
              <a:t>(Still in Local!)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0" y="914400"/>
            <a:ext cx="2103120" cy="2011680"/>
          </a:xfrm>
          <a:prstGeom prst="rect">
            <a:avLst/>
          </a:prstGeom>
          <a:solidFill>
            <a:srgbClr val="162C4A"/>
          </a:solidFill>
          <a:ln w="12700">
            <a:solidFill>
              <a:srgbClr val="1D3D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932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Broker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49240" y="1325880"/>
            <a:ext cx="1828800" cy="548640"/>
          </a:xfrm>
          <a:prstGeom prst="rect">
            <a:avLst/>
          </a:prstGeom>
          <a:solidFill>
            <a:srgbClr val="0077A8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Local Storage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(Fast &amp; Expensive)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1965960"/>
            <a:ext cx="1828800" cy="502920"/>
          </a:xfrm>
          <a:prstGeom prst="rect">
            <a:avLst/>
          </a:prstGeom>
          <a:solidFill>
            <a:srgbClr val="0077A8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B703"/>
                </a:solidFill>
              </a:rPr>
              <a:t>Historical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B703"/>
                </a:solidFill>
              </a:rPr>
              <a:t>(Still in Local!)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154680"/>
            <a:ext cx="2743200" cy="1554480"/>
          </a:xfrm>
          <a:prstGeom prst="rect">
            <a:avLst/>
          </a:prstGeom>
          <a:solidFill>
            <a:srgbClr val="162C4A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154680"/>
            <a:ext cx="274320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" y="32461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</a:rPr>
              <a:t>💰  Cost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" y="36393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</a:rPr>
              <a:t>Data historis pakai storage mahal (SSD/NVMe) yang sebenarnya hanya dibutuhkan untuk data real-time.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0" y="3154680"/>
            <a:ext cx="2743200" cy="1554480"/>
          </a:xfrm>
          <a:prstGeom prst="rect">
            <a:avLst/>
          </a:prstGeom>
          <a:solidFill>
            <a:srgbClr val="162C4A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3154680"/>
            <a:ext cx="274320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0" name="Text 28"/>
          <p:cNvSpPr/>
          <p:nvPr/>
        </p:nvSpPr>
        <p:spPr>
          <a:xfrm>
            <a:off x="3310128" y="32461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</a:rPr>
              <a:t>⚖️  Elasticity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10128" y="36393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</a:rPr>
              <a:t>Storage &amp; compute tightly coupled. Mau tambah storage → harus tambah broker, walau compute cukup.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3154680"/>
            <a:ext cx="2743200" cy="1554480"/>
          </a:xfrm>
          <a:prstGeom prst="rect">
            <a:avLst/>
          </a:prstGeom>
          <a:solidFill>
            <a:srgbClr val="162C4A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3154680"/>
            <a:ext cx="274320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4" name="Text 32"/>
          <p:cNvSpPr/>
          <p:nvPr/>
        </p:nvSpPr>
        <p:spPr>
          <a:xfrm>
            <a:off x="6236208" y="324612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</a:rPr>
              <a:t>🚧  Isolation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36208" y="3639312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</a:rPr>
              <a:t>Akses data lama dari disk memblokir network thread, berdampak ke consumer real-time di thread yang sama.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Solusi: Arsitektur Tiered Storage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3840480" cy="3200400"/>
          </a:xfrm>
          <a:prstGeom prst="rect">
            <a:avLst/>
          </a:prstGeom>
          <a:solidFill>
            <a:srgbClr val="162C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3840480" cy="347472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🔵  LOCAL TIER  (Hot Data)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338328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D3D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</a:rPr>
              <a:t>Broker 1  |  Recent Segments (Hotset)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011680"/>
            <a:ext cx="338328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D3D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75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</a:rPr>
              <a:t>Broker 2  |  Recent Segments (Hotset)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743200"/>
            <a:ext cx="3383280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1D3D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</a:rPr>
              <a:t>Broker 3  |  Recent Segments (Hotset)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37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A4C0"/>
                </a:solidFill>
              </a:rPr>
              <a:t>Retention: confluent.tier.local.hotset.ms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CA4C0"/>
                </a:solidFill>
              </a:rPr>
              <a:t>(e.g. 15 menit – 1 jam)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0" y="1920240"/>
            <a:ext cx="731520" cy="64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1737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D6A0"/>
                </a:solidFill>
              </a:rPr>
              <a:t>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6052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</a:rPr>
              <a:t>Roll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</a:rPr>
              <a:t>Upload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0" y="822960"/>
            <a:ext cx="3840480" cy="3200400"/>
          </a:xfrm>
          <a:prstGeom prst="rect">
            <a:avLst/>
          </a:prstGeom>
          <a:solidFill>
            <a:srgbClr val="162C4A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822960"/>
            <a:ext cx="3840480" cy="347472"/>
          </a:xfrm>
          <a:prstGeom prst="rect">
            <a:avLst/>
          </a:prstGeom>
          <a:solidFill>
            <a:srgbClr val="7B480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</a:rPr>
              <a:t>🟠  REMOTE TIER  (Cold/Historical)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1261872"/>
            <a:ext cx="338328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7B4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307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</a:rPr>
              <a:t>📦  MinIO (On-Prem S3-compatible)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1828800"/>
            <a:ext cx="338328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7B4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874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</a:rPr>
              <a:t>📦  Ceph Object Storage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2395728"/>
            <a:ext cx="338328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7B4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441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</a:rPr>
              <a:t>📦  Dell ECS / Pure FlashBlade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57800" y="2962656"/>
            <a:ext cx="3383280" cy="438912"/>
          </a:xfrm>
          <a:prstGeom prst="rect">
            <a:avLst/>
          </a:prstGeom>
          <a:solidFill>
            <a:srgbClr val="112240"/>
          </a:solidFill>
          <a:ln w="12700">
            <a:solidFill>
              <a:srgbClr val="7B4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0083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5"/>
                </a:solidFill>
              </a:rPr>
              <a:t>📦  Custom Object Store (Plugin)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337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A4C0"/>
                </a:solidFill>
              </a:rPr>
              <a:t>Retention: segment.ms / segment.bytes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CA4C0"/>
                </a:solidFill>
              </a:rPr>
              <a:t>(practically unlimited)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160520"/>
            <a:ext cx="2743200" cy="731520"/>
          </a:xfrm>
          <a:prstGeom prst="rect">
            <a:avLst/>
          </a:prstGeom>
          <a:solidFill>
            <a:srgbClr val="162C4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788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Cost 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" y="4507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Bayar cheap storage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untuk data lama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4160520"/>
            <a:ext cx="2743200" cy="731520"/>
          </a:xfrm>
          <a:prstGeom prst="rect">
            <a:avLst/>
          </a:prstGeom>
          <a:solidFill>
            <a:srgbClr val="162C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41788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Scale ↑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91840" y="4507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Compute &amp; storage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independen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4160520"/>
            <a:ext cx="2743200" cy="731520"/>
          </a:xfrm>
          <a:prstGeom prst="rect">
            <a:avLst/>
          </a:prstGeom>
          <a:solidFill>
            <a:srgbClr val="162C4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41788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</a:rPr>
              <a:t>Isolated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17920" y="45079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Historical path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terpisah dari realtime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Flow 1: Writing Events ke Tiered Topic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1645920" cy="1005840"/>
          </a:xfrm>
          <a:prstGeom prst="rect">
            <a:avLst/>
          </a:prstGeom>
          <a:solidFill>
            <a:srgbClr val="162C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005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Producer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208483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A4C0"/>
                </a:solidFill>
              </a:rPr>
              <a:t>(Tidak berubah –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CA4C0"/>
                </a:solidFill>
              </a:rPr>
              <a:t>transparent)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38528" y="1463040"/>
            <a:ext cx="7315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1938528" y="1234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</a:rPr>
              <a:t>Write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</a:rPr>
              <a:t>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868680"/>
            <a:ext cx="2286000" cy="2926080"/>
          </a:xfrm>
          <a:prstGeom prst="rect">
            <a:avLst/>
          </a:prstGeom>
          <a:solidFill>
            <a:srgbClr val="162C4A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0" y="868680"/>
            <a:ext cx="2286000" cy="347472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8686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LEADER REPLICA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80360" y="1325880"/>
            <a:ext cx="2011680" cy="475488"/>
          </a:xfrm>
          <a:prstGeom prst="rect">
            <a:avLst/>
          </a:prstGeom>
          <a:solidFill>
            <a:srgbClr val="1A6B3A"/>
          </a:solidFill>
          <a:ln w="12700">
            <a:solidFill>
              <a:srgbClr val="1D3D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13624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Segment 1 (rolled)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1920240"/>
            <a:ext cx="2011680" cy="475488"/>
          </a:xfrm>
          <a:prstGeom prst="rect">
            <a:avLst/>
          </a:prstGeom>
          <a:solidFill>
            <a:srgbClr val="1A6B3A"/>
          </a:solidFill>
          <a:ln w="12700">
            <a:solidFill>
              <a:srgbClr val="1D3D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19568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Segment 2 (rolled)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80360" y="2514600"/>
            <a:ext cx="2011680" cy="475488"/>
          </a:xfrm>
          <a:prstGeom prst="rect">
            <a:avLst/>
          </a:prstGeom>
          <a:solidFill>
            <a:srgbClr val="0077A8"/>
          </a:solidFill>
          <a:ln w="12700">
            <a:solidFill>
              <a:srgbClr val="1D3D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25511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Segment 3 (active)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8892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703"/>
                </a:solidFill>
              </a:rPr>
              <a:t>Active segment = NEVER tiered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8892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</a:rPr>
              <a:t>Rolled segment → eligible for tiering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93208" y="1463040"/>
            <a:ext cx="640080" cy="54864"/>
          </a:xfrm>
          <a:prstGeom prst="rect">
            <a:avLst/>
          </a:prstGeom>
          <a:solidFill>
            <a:srgbClr val="7CA4C0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1371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A4C0"/>
                </a:solidFill>
              </a:rPr>
              <a:t>➜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47488" y="12344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A4C0"/>
                </a:solidFill>
              </a:rPr>
              <a:t>Replicate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806440" y="914400"/>
            <a:ext cx="2103120" cy="1371600"/>
          </a:xfrm>
          <a:prstGeom prst="rect">
            <a:avLst/>
          </a:prstGeom>
          <a:solidFill>
            <a:srgbClr val="162C4A"/>
          </a:solidFill>
          <a:ln w="12700">
            <a:solidFill>
              <a:srgbClr val="1D3D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06440" y="9326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A4C0"/>
                </a:solidFill>
              </a:rPr>
              <a:t>Follower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97880" y="129844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Fetch &amp; replicate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events from leader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06440" y="2560320"/>
            <a:ext cx="2103120" cy="1371600"/>
          </a:xfrm>
          <a:prstGeom prst="rect">
            <a:avLst/>
          </a:prstGeom>
          <a:solidFill>
            <a:srgbClr val="162C4A"/>
          </a:solidFill>
          <a:ln w="12700">
            <a:solidFill>
              <a:srgbClr val="1D3D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06440" y="2578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A4C0"/>
                </a:solidFill>
              </a:rPr>
              <a:t>Follower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294436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Fetch &amp; replicate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events from leader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4206240"/>
            <a:ext cx="8741664" cy="685800"/>
          </a:xfrm>
          <a:prstGeom prst="rect">
            <a:avLst/>
          </a:prstGeom>
          <a:solidFill>
            <a:srgbClr val="162C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519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</a:rPr>
              <a:t>✅  Key Insight:  Producer tidak tahu dan tidak perlu tahu bahwa topic menggunakan Tiered Storage — prosesnya transparan 100%.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703"/>
                </a:solidFill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Flow 2: Tiering Events ke Remote Object Store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822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45720" cy="420624"/>
          </a:xfrm>
          <a:prstGeom prst="rect">
            <a:avLst/>
          </a:prstGeom>
          <a:solidFill>
            <a:srgbClr val="06D6A0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822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Segment Roll &amp; Flush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051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Saat segment aktif penuh / waktu habis, segment di-roll (ditutup) dan di-flush ke disk. Segment ini kini eligible untuk di-tier.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" y="1627632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45720" cy="420624"/>
          </a:xfrm>
          <a:prstGeom prst="rect">
            <a:avLst/>
          </a:prstGeom>
          <a:solidFill>
            <a:srgbClr val="00B4D8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627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Leader Upload ke Object Store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18562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Partition leader bertanggung jawab meng-upload segment file ke remote object store (MinIO, Ceph, dll) via storage plugin.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" y="2432304"/>
            <a:ext cx="384048" cy="38404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816352"/>
            <a:ext cx="45720" cy="420624"/>
          </a:xfrm>
          <a:prstGeom prst="rect">
            <a:avLst/>
          </a:prstGeom>
          <a:solidFill>
            <a:srgbClr val="FFB703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4323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</a:rPr>
              <a:t>Metadata → _confluent-tier-state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266090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Leader mencatat referensi lokasi remote object ke internal topic _confluent-tier-state (mirip __consumer_offsets).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" y="3236976"/>
            <a:ext cx="384048" cy="38404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621024"/>
            <a:ext cx="45720" cy="420624"/>
          </a:xfrm>
          <a:prstGeom prst="rect">
            <a:avLst/>
          </a:prstGeom>
          <a:solidFill>
            <a:srgbClr val="EF476F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23697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</a:rPr>
              <a:t>Follower Replikasi Metadata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46557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Follower fetch metadata dari _confluent-tier-state, lalu update in-memory map mereka tentang mana data ada di remote.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" y="4041648"/>
            <a:ext cx="384048" cy="384048"/>
          </a:xfrm>
          <a:prstGeom prst="ellipse">
            <a:avLst/>
          </a:prstGeom>
          <a:solidFill>
            <a:srgbClr val="7CA4C0"/>
          </a:solidFill>
          <a:ln w="12700">
            <a:solidFill>
              <a:srgbClr val="7CA4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4041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A4C0"/>
                </a:solidFill>
              </a:rPr>
              <a:t>Hapus dari Local (hotset expired)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2702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</a:rPr>
              <a:t>Setelah hotset.ms expired, segment lokal dihapus. Data tetap aman di remote object store.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822960"/>
            <a:ext cx="3383280" cy="4069080"/>
          </a:xfrm>
          <a:prstGeom prst="rect">
            <a:avLst/>
          </a:prstGeom>
          <a:solidFill>
            <a:srgbClr val="162C4A"/>
          </a:solidFill>
          <a:ln w="12700">
            <a:solidFill>
              <a:srgbClr val="1D3D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77840" y="868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Metadata Flow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60720" y="1280160"/>
            <a:ext cx="3017520" cy="548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129844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Leader Replica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040880" y="1847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760720" y="2029968"/>
            <a:ext cx="3017520" cy="548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204825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703"/>
                </a:solidFill>
              </a:rPr>
              <a:t>_confluent-tier-state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B703"/>
                </a:solidFill>
              </a:rPr>
              <a:t>(Internal Topic)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40880" y="25968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703"/>
                </a:solidFill>
              </a:rPr>
              <a:t>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760720" y="2779776"/>
            <a:ext cx="3017520" cy="548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279806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Remote Object 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(MinIO / Ceph)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40880" y="334670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760720" y="3529584"/>
            <a:ext cx="3017520" cy="548640"/>
          </a:xfrm>
          <a:prstGeom prst="rect">
            <a:avLst/>
          </a:prstGeom>
          <a:solidFill>
            <a:srgbClr val="112240"/>
          </a:solidFill>
          <a:ln w="12700">
            <a:solidFill>
              <a:srgbClr val="7CA4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354787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A4C0"/>
                </a:solidFill>
              </a:rPr>
              <a:t>Follower Replicas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7CA4C0"/>
                </a:solidFill>
              </a:rPr>
              <a:t>(in-memory map)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Logical View of Tiered Partition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A4C0"/>
                </a:solidFill>
              </a:rPr>
              <a:t>Logical Partition (Offset Timeline)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3291840" cy="685800"/>
          </a:xfrm>
          <a:prstGeom prst="rect">
            <a:avLst/>
          </a:prstGeom>
          <a:solidFill>
            <a:srgbClr val="7B480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887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</a:rPr>
              <a:t>Remote Only  (Offset 0 – 5000)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188720"/>
            <a:ext cx="1280160" cy="685800"/>
          </a:xfrm>
          <a:prstGeom prst="rect">
            <a:avLst/>
          </a:prstGeom>
          <a:solidFill>
            <a:srgbClr val="1A3D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188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Overlap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(Local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</a:rPr>
              <a:t>Remote)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4023360" cy="685800"/>
          </a:xfrm>
          <a:prstGeom prst="rect">
            <a:avLst/>
          </a:prstGeom>
          <a:solidFill>
            <a:srgbClr val="1A4A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887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Local Only – Hotset  (Offset 5500 – Latest)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A4C0"/>
                </a:solidFill>
              </a:rPr>
              <a:t>← Oldest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38160" y="1920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A4C0"/>
                </a:solidFill>
              </a:rPr>
              <a:t>Latest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331720"/>
            <a:ext cx="5029200" cy="2514600"/>
          </a:xfrm>
          <a:prstGeom prst="rect">
            <a:avLst/>
          </a:prstGeom>
          <a:solidFill>
            <a:srgbClr val="162C4A"/>
          </a:solidFill>
          <a:ln w="12700">
            <a:solidFill>
              <a:srgbClr val="1D3D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395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Broker Logical View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788920"/>
            <a:ext cx="47548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• </a:t>
            </a:r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</a:rPr>
              <a:t>_confluent-tier-state</a:t>
            </a:r>
            <a:pPr indent="0" marL="0">
              <a:buNone/>
            </a:pPr>
            <a:r>
              <a:rPr lang="en-US" sz="1050" dirty="0">
                <a:solidFill>
                  <a:srgbClr val="D0E8F5"/>
                </a:solidFill>
              </a:rPr>
              <a:t> → referensi semua segment remote
</a:t>
            </a:r>
            <a:pPr indent="0" marL="0">
              <a:buNone/>
            </a:pPr>
            <a:r>
              <a:rPr lang="en-US" sz="1050" dirty="0">
                <a:solidFill>
                  <a:srgbClr val="D0E8F5"/>
                </a:solidFill>
              </a:rPr>
              <a:t>• Local log segments → data recent (hotset)
</a:t>
            </a:r>
            <a:pPr indent="0" marL="0">
              <a:buNone/>
            </a:pPr>
            <a:r>
              <a:rPr lang="en-US" sz="1050" dirty="0">
                <a:solidFill>
                  <a:srgbClr val="D0E8F5"/>
                </a:solidFill>
              </a:rPr>
              <a:t>• Broker merge keduanya → holistic logical view
</a:t>
            </a:r>
            <a:pPr indent="0" marL="0">
              <a:buNone/>
            </a:pPr>
            <a:r>
              <a:rPr lang="en-US" sz="1050" dirty="0">
                <a:solidFill>
                  <a:srgbClr val="D0E8F5"/>
                </a:solidFill>
              </a:rPr>
              <a:t>• Bila consumer fetch: </a:t>
            </a:r>
            <a:pPr indent="0" marL="0">
              <a:buNone/>
            </a:pPr>
            <a:r>
              <a:rPr lang="en-US" sz="1050" b="1" dirty="0">
                <a:solidFill>
                  <a:srgbClr val="06D6A0"/>
                </a:solidFill>
              </a:rPr>
              <a:t>cek local dulu</a:t>
            </a:r>
            <a:pPr indent="0" marL="0">
              <a:buNone/>
            </a:pPr>
            <a:r>
              <a:rPr lang="en-US" sz="1050" dirty="0">
                <a:solidFill>
                  <a:srgbClr val="D0E8F5"/>
                </a:solidFill>
              </a:rPr>
              <a:t>, fallback ke remote
</a:t>
            </a:r>
            <a:pPr indent="0" marL="0">
              <a:buNone/>
            </a:pPr>
            <a:r>
              <a:rPr lang="en-US" sz="1050" dirty="0">
                <a:solidFill>
                  <a:srgbClr val="D0E8F5"/>
                </a:solidFill>
              </a:rPr>
              <a:t>• Jika ada overlap → prioritas local (page cache)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2331720"/>
            <a:ext cx="3383280" cy="2514600"/>
          </a:xfrm>
          <a:prstGeom prst="rect">
            <a:avLst/>
          </a:prstGeom>
          <a:solidFill>
            <a:srgbClr val="162C4A"/>
          </a:solidFill>
          <a:ln w="12700">
            <a:solidFill>
              <a:srgbClr val="1D3D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2395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Consumer Fetch Decision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2788920"/>
            <a:ext cx="283464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Consumer Fetch Request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6600" y="3273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852160" y="3547872"/>
            <a:ext cx="2834640" cy="457200"/>
          </a:xfrm>
          <a:prstGeom prst="rect">
            <a:avLst/>
          </a:prstGeom>
          <a:solidFill>
            <a:srgbClr val="11224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35478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703"/>
                </a:solidFill>
              </a:rPr>
              <a:t>Offset in local hotset?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0" y="4059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YES 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69280" y="42976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</a:rPr>
              <a:t>Serve from local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</a:rPr>
              <a:t>(page cache)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0" y="40599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703"/>
                </a:solidFill>
              </a:rPr>
              <a:t>NO 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42976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703"/>
                </a:solidFill>
              </a:rPr>
              <a:t>Stream from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B703"/>
                </a:solidFill>
              </a:rPr>
              <a:t>remote object store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D6A0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Flow 3: Fetching Tiered Data (Detail)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8741664" cy="1965960"/>
          </a:xfrm>
          <a:prstGeom prst="rect">
            <a:avLst/>
          </a:prstGeom>
          <a:solidFill>
            <a:srgbClr val="162C4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822960"/>
            <a:ext cx="73152" cy="1965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</a:rPr>
              <a:t>PATH A – Data dalam Hotset (Local Storage)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207008"/>
            <a:ext cx="1920240" cy="594360"/>
          </a:xfrm>
          <a:prstGeom prst="rect">
            <a:avLst/>
          </a:prstGeom>
          <a:solidFill>
            <a:srgbClr val="1A4A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070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Consumer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Fetch Request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04288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14600" y="1207008"/>
            <a:ext cx="1920240" cy="594360"/>
          </a:xfrm>
          <a:prstGeom prst="rect">
            <a:avLst/>
          </a:prstGeom>
          <a:solidFill>
            <a:srgbClr val="1A4A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2070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Network Thread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(Kafka Broker)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53128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207008"/>
            <a:ext cx="1920240" cy="594360"/>
          </a:xfrm>
          <a:prstGeom prst="rect">
            <a:avLst/>
          </a:prstGeom>
          <a:solidFill>
            <a:srgbClr val="1A4A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2070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Page Cache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(RAM)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01968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12280" y="1207008"/>
            <a:ext cx="1920240" cy="594360"/>
          </a:xfrm>
          <a:prstGeom prst="rect">
            <a:avLst/>
          </a:prstGeom>
          <a:solidFill>
            <a:srgbClr val="1A4A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20700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Response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</a:rPr>
              <a:t>to Consumer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18470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A4C0"/>
                </a:solidFill>
              </a:rPr>
              <a:t>✅  Cepat – data kemungkinan besar masih di page cache (RAM). Network thread tidak terblokir.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" y="2926080"/>
            <a:ext cx="8741664" cy="1965960"/>
          </a:xfrm>
          <a:prstGeom prst="rect">
            <a:avLst/>
          </a:prstGeom>
          <a:solidFill>
            <a:srgbClr val="162C4A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1168" y="2926080"/>
            <a:ext cx="73152" cy="196596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971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</a:rPr>
              <a:t>PATH B – Data di Remote Object Store (Historical)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310128"/>
            <a:ext cx="1600200" cy="777240"/>
          </a:xfrm>
          <a:prstGeom prst="rect">
            <a:avLst/>
          </a:prstGeom>
          <a:solidFill>
            <a:srgbClr val="3D1A0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31012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703"/>
                </a:solidFill>
              </a:rPr>
              <a:t>Consumer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B703"/>
                </a:solidFill>
              </a:rPr>
              <a:t>Fetch Request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892808" y="35844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703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11680" y="3310128"/>
            <a:ext cx="1600200" cy="777240"/>
          </a:xfrm>
          <a:prstGeom prst="rect">
            <a:avLst/>
          </a:prstGeom>
          <a:solidFill>
            <a:srgbClr val="3D1A0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331012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703"/>
                </a:solidFill>
              </a:rPr>
              <a:t>Network Thread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B703"/>
                </a:solidFill>
              </a:rPr>
              <a:t>(Kafka Broker)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30168" y="35844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703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749040" y="3310128"/>
            <a:ext cx="1600200" cy="777240"/>
          </a:xfrm>
          <a:prstGeom prst="rect">
            <a:avLst/>
          </a:prstGeom>
          <a:solidFill>
            <a:srgbClr val="3D1A0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331012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76F"/>
                </a:solidFill>
              </a:rPr>
              <a:t>Separate Thread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F476F"/>
                </a:solidFill>
              </a:rPr>
              <a:t>streams from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F476F"/>
                </a:solidFill>
              </a:rPr>
              <a:t>Object Store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67528" y="35844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0" y="3310128"/>
            <a:ext cx="1600200" cy="777240"/>
          </a:xfrm>
          <a:prstGeom prst="rect">
            <a:avLst/>
          </a:prstGeom>
          <a:solidFill>
            <a:srgbClr val="3D1A0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331012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In-Memory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B4D8"/>
                </a:solidFill>
              </a:rPr>
              <a:t>Buffer (Broker)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104888" y="35844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23760" y="3310128"/>
            <a:ext cx="1600200" cy="777240"/>
          </a:xfrm>
          <a:prstGeom prst="rect">
            <a:avLst/>
          </a:prstGeom>
          <a:solidFill>
            <a:srgbClr val="3D1A00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3310128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B703"/>
                </a:solidFill>
              </a:rPr>
              <a:t>Response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B703"/>
                </a:solidFill>
              </a:rPr>
              <a:t>to Consumer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B703"/>
                </a:solidFill>
              </a:rPr>
              <a:t>(then discarded)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41330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A4C0"/>
                </a:solidFill>
              </a:rPr>
              <a:t>✅  Non-blocking – network thread tidak perlu menunggu. Data discard setelah dikirim, tidak disimpan ulang di local.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01168" y="4626864"/>
            <a:ext cx="8741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💡  Kedua path berjalan sepenuhnya isolated – real-time consumer tidak terdampak historical reads.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On-Premise Setup: Object Store &amp; Konfigurasi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822960"/>
            <a:ext cx="4206240" cy="1143000"/>
          </a:xfrm>
          <a:prstGeom prst="rect">
            <a:avLst/>
          </a:prstGeom>
          <a:solidFill>
            <a:srgbClr val="162C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22960"/>
            <a:ext cx="42062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96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MinIO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905256"/>
            <a:ext cx="1371600" cy="256032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905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B4D8"/>
                </a:solidFill>
              </a:rPr>
              <a:t>S3-Compatible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2618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Paling populer untuk on-prem. S3 API compatible, self-hosted, high performance, open source.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206240" cy="1143000"/>
          </a:xfrm>
          <a:prstGeom prst="rect">
            <a:avLst/>
          </a:prstGeom>
          <a:solidFill>
            <a:srgbClr val="162C4A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22960"/>
            <a:ext cx="42062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896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D6A0"/>
                </a:solidFill>
              </a:rPr>
              <a:t>Ceph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69480" y="905256"/>
            <a:ext cx="1371600" cy="256032"/>
          </a:xfrm>
          <a:prstGeom prst="rect">
            <a:avLst/>
          </a:prstGeom>
          <a:solidFill>
            <a:srgbClr val="06D6A0">
              <a:alpha val="4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9052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D6A0"/>
                </a:solidFill>
              </a:rPr>
              <a:t>RADOS Gateway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126187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Enterprise-grade. Mendukung S3 API via RADOS Gateway. Cocok untuk datacenter besar.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148840"/>
            <a:ext cx="4206240" cy="1143000"/>
          </a:xfrm>
          <a:prstGeom prst="rect">
            <a:avLst/>
          </a:prstGeom>
          <a:solidFill>
            <a:srgbClr val="162C4A"/>
          </a:solidFill>
          <a:ln w="1905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148840"/>
            <a:ext cx="420624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221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703"/>
                </a:solidFill>
              </a:rPr>
              <a:t>Dell ECS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834640" y="2231136"/>
            <a:ext cx="1371600" cy="256032"/>
          </a:xfrm>
          <a:prstGeom prst="rect">
            <a:avLst/>
          </a:prstGeom>
          <a:solidFill>
            <a:srgbClr val="FFB703">
              <a:alpha val="4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2231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B703"/>
                </a:solidFill>
              </a:rPr>
              <a:t>Enterprise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25877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Hardware-based object storage dari Dell. Throughput tinggi, cocok untuk finansial &amp; perbankan.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2148840"/>
            <a:ext cx="4206240" cy="1143000"/>
          </a:xfrm>
          <a:prstGeom prst="rect">
            <a:avLst/>
          </a:prstGeom>
          <a:solidFill>
            <a:srgbClr val="162C4A"/>
          </a:solidFill>
          <a:ln w="1905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148840"/>
            <a:ext cx="420624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221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76F"/>
                </a:solidFill>
              </a:rPr>
              <a:t>Pure FlashBlade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269480" y="2231136"/>
            <a:ext cx="1371600" cy="256032"/>
          </a:xfrm>
          <a:prstGeom prst="rect">
            <a:avLst/>
          </a:prstGeom>
          <a:solidFill>
            <a:srgbClr val="EF476F">
              <a:alpha val="4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9480" y="22311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476F"/>
                </a:solidFill>
              </a:rPr>
              <a:t>All-Flash NFS/S3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25877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Ultra-low latency. Cocok jika historical data masih sering diakses dalam SLA ketat.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3273552"/>
            <a:ext cx="8686800" cy="1600200"/>
          </a:xfrm>
          <a:prstGeom prst="rect">
            <a:avLst/>
          </a:prstGeom>
          <a:solidFill>
            <a:srgbClr val="162C4A"/>
          </a:solidFill>
          <a:ln w="12700">
            <a:solidFill>
              <a:srgbClr val="1D3D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337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⚙️  Key Configuration (server.properties)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368503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confluent.tier.enable=true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86791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confluent.tier.backend=S3              # MinIO uses S3-compatible endpoint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0507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confluent.tier.s3.bucket=kafka-tiered  # Nama bucket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2336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confluent.tier.s3.region=us-east-1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41655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confluent.tier.local.hotset.ms=3600000 # 1 jam local retention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59943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E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confluent.tier.s3.endpoint.override=http://minio.internal:9000  # MinIO endpoint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01168" y="914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05840" y="146304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Full Architecture: Tiered Storage On-Premise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1463040" cy="685800"/>
          </a:xfrm>
          <a:prstGeom prst="rect">
            <a:avLst/>
          </a:prstGeom>
          <a:solidFill>
            <a:srgbClr val="162C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144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Producer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64208" y="1234440"/>
            <a:ext cx="457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1709928" y="11155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822960"/>
            <a:ext cx="3108960" cy="2011680"/>
          </a:xfrm>
          <a:prstGeom prst="rect">
            <a:avLst/>
          </a:prstGeom>
          <a:solidFill>
            <a:srgbClr val="162C4A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822960"/>
            <a:ext cx="3108960" cy="329184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8229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</a:rPr>
              <a:t>Kafka Cluster (On-Prem)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1234440"/>
            <a:ext cx="283464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D3D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125272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D6A0"/>
                </a:solidFill>
              </a:rPr>
              <a:t>Broker 1 (Leader)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0" y="1709928"/>
            <a:ext cx="283464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D3D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72821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A4C0"/>
                </a:solidFill>
              </a:rPr>
              <a:t>Broker 2 (Follower)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0" y="2185416"/>
            <a:ext cx="283464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D3D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20370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A4C0"/>
                </a:solidFill>
              </a:rPr>
              <a:t>Broker 3 (Follower)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0" y="26791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A4C0"/>
                </a:solidFill>
              </a:rPr>
              <a:t>Local Hotset Storage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51760" y="29077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B703"/>
                </a:solidFill>
              </a:rPr>
              <a:t>metadata ↓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18688" y="3163824"/>
            <a:ext cx="45720" cy="25603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0" y="3419856"/>
            <a:ext cx="2743200" cy="548640"/>
          </a:xfrm>
          <a:prstGeom prst="rect">
            <a:avLst/>
          </a:prstGeom>
          <a:solidFill>
            <a:srgbClr val="162C4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41985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703"/>
                </a:solidFill>
              </a:rPr>
              <a:t>_confluent-tier-state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85232" y="1234440"/>
            <a:ext cx="50292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9875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B703"/>
                </a:solidFill>
              </a:rPr>
              <a:t>upload →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52160" y="822960"/>
            <a:ext cx="3063240" cy="2011680"/>
          </a:xfrm>
          <a:prstGeom prst="rect">
            <a:avLst/>
          </a:prstGeom>
          <a:solidFill>
            <a:srgbClr val="162C4A"/>
          </a:solidFill>
          <a:ln w="254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52160" y="822960"/>
            <a:ext cx="3063240" cy="329184"/>
          </a:xfrm>
          <a:prstGeom prst="rect">
            <a:avLst/>
          </a:prstGeom>
          <a:solidFill>
            <a:srgbClr val="7B4800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8229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703"/>
                </a:solidFill>
              </a:rPr>
              <a:t>Remote Object Store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9320" y="1234440"/>
            <a:ext cx="274320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7B4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12527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703"/>
                </a:solidFill>
              </a:rPr>
              <a:t>MinIO / Ceph / ECS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1709928"/>
            <a:ext cx="274320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7B4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172821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703"/>
                </a:solidFill>
              </a:rPr>
              <a:t>Segment Files (archived)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89320" y="2185416"/>
            <a:ext cx="2743200" cy="365760"/>
          </a:xfrm>
          <a:prstGeom prst="rect">
            <a:avLst/>
          </a:prstGeom>
          <a:solidFill>
            <a:srgbClr val="112240"/>
          </a:solidFill>
          <a:ln w="12700">
            <a:solidFill>
              <a:srgbClr val="7B48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22037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B703"/>
                </a:solidFill>
              </a:rPr>
              <a:t>Infinite Retention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" y="2606040"/>
            <a:ext cx="1463040" cy="594360"/>
          </a:xfrm>
          <a:prstGeom prst="rect">
            <a:avLst/>
          </a:prstGeom>
          <a:solidFill>
            <a:srgbClr val="162C4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26060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RT Consumer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(hotset)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82880" y="3337560"/>
            <a:ext cx="1463040" cy="594360"/>
          </a:xfrm>
          <a:prstGeom prst="rect">
            <a:avLst/>
          </a:prstGeom>
          <a:solidFill>
            <a:srgbClr val="162C4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3337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703"/>
                </a:solidFill>
              </a:rPr>
              <a:t>Historical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B703"/>
                </a:solidFill>
              </a:rPr>
              <a:t>Consumer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664208" y="2880360"/>
            <a:ext cx="457200" cy="457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0" name="Text 38"/>
          <p:cNvSpPr/>
          <p:nvPr/>
        </p:nvSpPr>
        <p:spPr>
          <a:xfrm>
            <a:off x="1709928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664208" y="3611880"/>
            <a:ext cx="45720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2" name="Text 40"/>
          <p:cNvSpPr/>
          <p:nvPr/>
        </p:nvSpPr>
        <p:spPr>
          <a:xfrm>
            <a:off x="1709928" y="3483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703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01168" y="4343400"/>
            <a:ext cx="8741664" cy="594360"/>
          </a:xfrm>
          <a:prstGeom prst="rect">
            <a:avLst/>
          </a:prstGeom>
          <a:solidFill>
            <a:srgbClr val="162C4A"/>
          </a:solidFill>
          <a:ln w="12700">
            <a:solidFill>
              <a:srgbClr val="1D3D6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3891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🟢 Real-time path: Consumer → Broker → Page Cache (non-blocking)   |   🟠 Historical path: Consumer → Broker → Separate Thread → Object Store → In-Memory Buffer → Consumer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&amp; Manfaat Tiered Storage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43200" cy="1554480"/>
          </a:xfrm>
          <a:prstGeom prst="rect">
            <a:avLst/>
          </a:prstGeom>
          <a:solidFill>
            <a:srgbClr val="162C4A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74320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💰  Cost Efficiency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38988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Hanya data recent (hotset) di local fast storage. Data historis di object store murah (MinIO, Ceph) — bisa hemat 70–90% biaya storage.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36392" y="914400"/>
            <a:ext cx="2743200" cy="1554480"/>
          </a:xfrm>
          <a:prstGeom prst="rect">
            <a:avLst/>
          </a:prstGeom>
          <a:solidFill>
            <a:srgbClr val="162C4A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36392" y="914400"/>
            <a:ext cx="2743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⚖️  True Elasticity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38988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Scale compute (broker) &amp; storage (object store) secara independen. Tidak perlu tambah broker hanya karena butuh lebih banyak storage.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44184" y="914400"/>
            <a:ext cx="2743200" cy="1554480"/>
          </a:xfrm>
          <a:prstGeom prst="rect">
            <a:avLst/>
          </a:prstGeom>
          <a:solidFill>
            <a:srgbClr val="162C4A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44184" y="914400"/>
            <a:ext cx="2743200" cy="548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6153912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</a:rPr>
              <a:t>🔒  Complete Isolation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53912" y="138988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Historical reads tidak pernah memblokir real-time consumer. Separate thread + in-memory buffer menjamin zero interference.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606040"/>
            <a:ext cx="2743200" cy="1554480"/>
          </a:xfrm>
          <a:prstGeom prst="rect">
            <a:avLst/>
          </a:prstGeom>
          <a:solidFill>
            <a:srgbClr val="162C4A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606040"/>
            <a:ext cx="2743200" cy="5486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" y="26974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</a:rPr>
              <a:t>🔌  On-Premise Ready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" y="308152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Compatible dengan MinIO, Ceph, Dell ECS, Pure FlashBlade. Plugin-based architecture memungkinkan custom object store.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36392" y="2606040"/>
            <a:ext cx="2743200" cy="1554480"/>
          </a:xfrm>
          <a:prstGeom prst="rect">
            <a:avLst/>
          </a:prstGeom>
          <a:solidFill>
            <a:srgbClr val="162C4A"/>
          </a:solidFill>
          <a:ln w="12700">
            <a:solidFill>
              <a:srgbClr val="7CA4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36392" y="2606040"/>
            <a:ext cx="2743200" cy="54864"/>
          </a:xfrm>
          <a:prstGeom prst="rect">
            <a:avLst/>
          </a:prstGeom>
          <a:solidFill>
            <a:srgbClr val="7CA4C0"/>
          </a:solidFill>
          <a:ln/>
        </p:spPr>
      </p:sp>
      <p:sp>
        <p:nvSpPr>
          <p:cNvPr id="24" name="Text 22"/>
          <p:cNvSpPr/>
          <p:nvPr/>
        </p:nvSpPr>
        <p:spPr>
          <a:xfrm>
            <a:off x="3246120" y="26974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A4C0"/>
                </a:solidFill>
              </a:rPr>
              <a:t>👻  Transparent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08152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Producer &amp; consumer tidak perlu perubahan. Tiering terjadi secara otomatis di background oleh partition leader.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44184" y="2606040"/>
            <a:ext cx="2743200" cy="1554480"/>
          </a:xfrm>
          <a:prstGeom prst="rect">
            <a:avLst/>
          </a:prstGeom>
          <a:solidFill>
            <a:srgbClr val="162C4A"/>
          </a:solidFill>
          <a:ln w="12700">
            <a:solidFill>
              <a:srgbClr val="007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44184" y="2606040"/>
            <a:ext cx="2743200" cy="54864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28" name="Text 26"/>
          <p:cNvSpPr/>
          <p:nvPr/>
        </p:nvSpPr>
        <p:spPr>
          <a:xfrm>
            <a:off x="6153912" y="269748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7A8"/>
                </a:solidFill>
              </a:rPr>
              <a:t>♾️  Infinite Retention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53912" y="308152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5"/>
                </a:solidFill>
              </a:rPr>
              <a:t>Retention praktis unlimited di object store. Ideal untuk kebutuhan audit, compliance, dan analytics historis jangka panjang.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A4C0"/>
                </a:solidFill>
              </a:rPr>
              <a:t>Confluent Tiered Storage  •  KIP-405  •  On-Premise with MinIO / Ceph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Tiered Storage – Confluent On-Premise</dc:title>
  <dc:subject>PptxGenJS Presentation</dc:subject>
  <dc:creator>PptxGenJS</dc:creator>
  <cp:lastModifiedBy>PptxGenJS</cp:lastModifiedBy>
  <cp:revision>1</cp:revision>
  <dcterms:created xsi:type="dcterms:W3CDTF">2026-03-10T02:57:39Z</dcterms:created>
  <dcterms:modified xsi:type="dcterms:W3CDTF">2026-03-10T02:57:39Z</dcterms:modified>
</cp:coreProperties>
</file>